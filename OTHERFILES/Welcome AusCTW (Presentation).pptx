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Helios" panose="020B0604020202020204" charset="0"/>
      <p:regular r:id="rId4"/>
    </p:embeddedFont>
    <p:embeddedFont>
      <p:font typeface="Helios Bold" panose="020B0604020202020204" charset="0"/>
      <p:regular r:id="rId5"/>
    </p:embeddedFont>
    <p:embeddedFont>
      <p:font typeface="Knockout Cruiserweight Bold" panose="020B0604020202020204" charset="0"/>
      <p:regular r:id="rId6"/>
    </p:embeddedFont>
    <p:embeddedFont>
      <p:font typeface="Sunday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1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A2C24-A2C3-D9E9-76C2-12A2E3C164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868537" y="10116820"/>
            <a:ext cx="5683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Z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In-Confidence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164183"/>
            <a:ext cx="3649843" cy="3051260"/>
          </a:xfrm>
          <a:custGeom>
            <a:avLst/>
            <a:gdLst/>
            <a:ahLst/>
            <a:cxnLst/>
            <a:rect l="l" t="t" r="r" b="b"/>
            <a:pathLst>
              <a:path w="3649843" h="3051260">
                <a:moveTo>
                  <a:pt x="0" y="0"/>
                </a:moveTo>
                <a:lnTo>
                  <a:pt x="3649843" y="0"/>
                </a:lnTo>
                <a:lnTo>
                  <a:pt x="3649843" y="3051260"/>
                </a:lnTo>
                <a:lnTo>
                  <a:pt x="0" y="3051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Z"/>
          </a:p>
        </p:txBody>
      </p:sp>
      <p:grpSp>
        <p:nvGrpSpPr>
          <p:cNvPr id="3" name="Group 3"/>
          <p:cNvGrpSpPr/>
          <p:nvPr/>
        </p:nvGrpSpPr>
        <p:grpSpPr>
          <a:xfrm rot="-7179182">
            <a:off x="10652649" y="104951"/>
            <a:ext cx="11980961" cy="6562371"/>
            <a:chOff x="0" y="0"/>
            <a:chExt cx="10541123" cy="57737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41123" cy="5773724"/>
            </a:xfrm>
            <a:custGeom>
              <a:avLst/>
              <a:gdLst/>
              <a:ahLst/>
              <a:cxnLst/>
              <a:rect l="l" t="t" r="r" b="b"/>
              <a:pathLst>
                <a:path w="10541123" h="5773724">
                  <a:moveTo>
                    <a:pt x="10541123" y="2886862"/>
                  </a:moveTo>
                  <a:lnTo>
                    <a:pt x="10337923" y="5773724"/>
                  </a:lnTo>
                  <a:lnTo>
                    <a:pt x="203200" y="5773724"/>
                  </a:lnTo>
                  <a:lnTo>
                    <a:pt x="0" y="2886862"/>
                  </a:lnTo>
                  <a:lnTo>
                    <a:pt x="203200" y="0"/>
                  </a:lnTo>
                  <a:lnTo>
                    <a:pt x="10337923" y="0"/>
                  </a:lnTo>
                  <a:lnTo>
                    <a:pt x="10541123" y="2886862"/>
                  </a:lnTo>
                  <a:close/>
                </a:path>
              </a:pathLst>
            </a:custGeom>
            <a:solidFill>
              <a:srgbClr val="202F59"/>
            </a:solidFill>
          </p:spPr>
          <p:txBody>
            <a:bodyPr/>
            <a:lstStyle/>
            <a:p>
              <a:endParaRPr lang="en-NZ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4300" y="-28575"/>
              <a:ext cx="10312523" cy="5802299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82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558397" y="6933355"/>
            <a:ext cx="9289083" cy="8428868"/>
            <a:chOff x="0" y="0"/>
            <a:chExt cx="812800" cy="737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37531"/>
            </a:xfrm>
            <a:custGeom>
              <a:avLst/>
              <a:gdLst/>
              <a:ahLst/>
              <a:cxnLst/>
              <a:rect l="l" t="t" r="r" b="b"/>
              <a:pathLst>
                <a:path w="812800" h="737531">
                  <a:moveTo>
                    <a:pt x="812800" y="368765"/>
                  </a:moveTo>
                  <a:lnTo>
                    <a:pt x="609600" y="737531"/>
                  </a:lnTo>
                  <a:lnTo>
                    <a:pt x="203200" y="737531"/>
                  </a:lnTo>
                  <a:lnTo>
                    <a:pt x="0" y="368765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68765"/>
                  </a:lnTo>
                  <a:close/>
                </a:path>
              </a:pathLst>
            </a:custGeom>
            <a:solidFill>
              <a:srgbClr val="FFFEFE"/>
            </a:solidFill>
            <a:ln w="676275" cap="sq">
              <a:solidFill>
                <a:srgbClr val="175A97"/>
              </a:solidFill>
              <a:prstDash val="solid"/>
              <a:miter/>
            </a:ln>
          </p:spPr>
          <p:txBody>
            <a:bodyPr/>
            <a:lstStyle/>
            <a:p>
              <a:endParaRPr lang="en-NZ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4300" y="-28575"/>
              <a:ext cx="584200" cy="766106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890722" y="5414386"/>
            <a:ext cx="22367372" cy="1528493"/>
            <a:chOff x="0" y="0"/>
            <a:chExt cx="2889536" cy="1974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89536" cy="197459"/>
            </a:xfrm>
            <a:custGeom>
              <a:avLst/>
              <a:gdLst/>
              <a:ahLst/>
              <a:cxnLst/>
              <a:rect l="l" t="t" r="r" b="b"/>
              <a:pathLst>
                <a:path w="2889536" h="197459">
                  <a:moveTo>
                    <a:pt x="2889536" y="98729"/>
                  </a:moveTo>
                  <a:lnTo>
                    <a:pt x="2686336" y="197459"/>
                  </a:lnTo>
                  <a:lnTo>
                    <a:pt x="203200" y="197459"/>
                  </a:lnTo>
                  <a:lnTo>
                    <a:pt x="0" y="98729"/>
                  </a:lnTo>
                  <a:lnTo>
                    <a:pt x="203200" y="0"/>
                  </a:lnTo>
                  <a:lnTo>
                    <a:pt x="2686336" y="0"/>
                  </a:lnTo>
                  <a:lnTo>
                    <a:pt x="2889536" y="98729"/>
                  </a:lnTo>
                  <a:close/>
                </a:path>
              </a:pathLst>
            </a:custGeom>
            <a:solidFill>
              <a:srgbClr val="EC414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NZ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" y="-28575"/>
              <a:ext cx="2660936" cy="226034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412070" y="-783717"/>
            <a:ext cx="19132530" cy="1615059"/>
            <a:chOff x="0" y="0"/>
            <a:chExt cx="9628701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28701" cy="812800"/>
            </a:xfrm>
            <a:custGeom>
              <a:avLst/>
              <a:gdLst/>
              <a:ahLst/>
              <a:cxnLst/>
              <a:rect l="l" t="t" r="r" b="b"/>
              <a:pathLst>
                <a:path w="9628701" h="812800">
                  <a:moveTo>
                    <a:pt x="0" y="0"/>
                  </a:moveTo>
                  <a:lnTo>
                    <a:pt x="9628701" y="0"/>
                  </a:lnTo>
                  <a:lnTo>
                    <a:pt x="962870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C4143"/>
            </a:solidFill>
          </p:spPr>
          <p:txBody>
            <a:bodyPr/>
            <a:lstStyle/>
            <a:p>
              <a:endParaRPr lang="en-NZ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9628701" cy="831850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38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888584"/>
            <a:ext cx="10460131" cy="4468560"/>
            <a:chOff x="0" y="0"/>
            <a:chExt cx="13946842" cy="5958081"/>
          </a:xfrm>
        </p:grpSpPr>
        <p:sp>
          <p:nvSpPr>
            <p:cNvPr id="16" name="TextBox 16"/>
            <p:cNvSpPr txBox="1"/>
            <p:nvPr/>
          </p:nvSpPr>
          <p:spPr>
            <a:xfrm>
              <a:off x="24094" y="-171450"/>
              <a:ext cx="13793191" cy="1953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389"/>
                </a:lnSpc>
                <a:spcBef>
                  <a:spcPct val="0"/>
                </a:spcBef>
              </a:pPr>
              <a:r>
                <a:rPr lang="en-US" sz="8849">
                  <a:solidFill>
                    <a:srgbClr val="202F59"/>
                  </a:solidFill>
                  <a:latin typeface="Knockout Cruiserweight Bold"/>
                  <a:ea typeface="Knockout Cruiserweight Bold"/>
                  <a:cs typeface="Knockout Cruiserweight Bold"/>
                  <a:sym typeface="Knockout Cruiserweight Bold"/>
                </a:rPr>
                <a:t>AUSTRALIAN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577555"/>
              <a:ext cx="13946842" cy="30932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49"/>
                </a:lnSpc>
              </a:pPr>
              <a:r>
                <a:rPr lang="en-US" sz="8849">
                  <a:solidFill>
                    <a:srgbClr val="202F59"/>
                  </a:solidFill>
                  <a:latin typeface="Knockout Cruiserweight Bold"/>
                  <a:ea typeface="Knockout Cruiserweight Bold"/>
                  <a:cs typeface="Knockout Cruiserweight Bold"/>
                  <a:sym typeface="Knockout Cruiserweight Bold"/>
                </a:rPr>
                <a:t>COMMUNICATION THEORY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094" y="4005034"/>
              <a:ext cx="13793191" cy="1953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389"/>
                </a:lnSpc>
                <a:spcBef>
                  <a:spcPct val="0"/>
                </a:spcBef>
              </a:pPr>
              <a:r>
                <a:rPr lang="en-US" sz="8849">
                  <a:solidFill>
                    <a:srgbClr val="202F59"/>
                  </a:solidFill>
                  <a:latin typeface="Knockout Cruiserweight Bold"/>
                  <a:ea typeface="Knockout Cruiserweight Bold"/>
                  <a:cs typeface="Knockout Cruiserweight Bold"/>
                  <a:sym typeface="Knockout Cruiserweight Bold"/>
                </a:rPr>
                <a:t>WORKSHOP 2026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8892659" y="2933795"/>
            <a:ext cx="10193874" cy="7982805"/>
            <a:chOff x="0" y="0"/>
            <a:chExt cx="89197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91970" cy="698500"/>
            </a:xfrm>
            <a:custGeom>
              <a:avLst/>
              <a:gdLst/>
              <a:ahLst/>
              <a:cxnLst/>
              <a:rect l="l" t="t" r="r" b="b"/>
              <a:pathLst>
                <a:path w="891970" h="698500">
                  <a:moveTo>
                    <a:pt x="891970" y="349250"/>
                  </a:moveTo>
                  <a:lnTo>
                    <a:pt x="68877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88770" y="0"/>
                  </a:lnTo>
                  <a:lnTo>
                    <a:pt x="891970" y="349250"/>
                  </a:lnTo>
                  <a:close/>
                </a:path>
              </a:pathLst>
            </a:custGeom>
            <a:solidFill>
              <a:srgbClr val="FFFEFE"/>
            </a:solidFill>
            <a:ln w="857250" cap="sq">
              <a:solidFill>
                <a:srgbClr val="175A97"/>
              </a:solidFill>
              <a:prstDash val="solid"/>
              <a:miter/>
            </a:ln>
          </p:spPr>
          <p:txBody>
            <a:bodyPr/>
            <a:lstStyle/>
            <a:p>
              <a:endParaRPr lang="en-NZ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" y="-28575"/>
              <a:ext cx="663370" cy="727075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9280" y="7521374"/>
            <a:ext cx="2413078" cy="2413078"/>
          </a:xfrm>
          <a:prstGeom prst="rect">
            <a:avLst/>
          </a:prstGeom>
        </p:spPr>
      </p:pic>
      <p:sp>
        <p:nvSpPr>
          <p:cNvPr id="23" name="Freeform 23"/>
          <p:cNvSpPr/>
          <p:nvPr/>
        </p:nvSpPr>
        <p:spPr>
          <a:xfrm>
            <a:off x="13191621" y="7854446"/>
            <a:ext cx="1406785" cy="1225661"/>
          </a:xfrm>
          <a:custGeom>
            <a:avLst/>
            <a:gdLst/>
            <a:ahLst/>
            <a:cxnLst/>
            <a:rect l="l" t="t" r="r" b="b"/>
            <a:pathLst>
              <a:path w="1406785" h="1225661">
                <a:moveTo>
                  <a:pt x="0" y="0"/>
                </a:moveTo>
                <a:lnTo>
                  <a:pt x="1406784" y="0"/>
                </a:lnTo>
                <a:lnTo>
                  <a:pt x="1406784" y="1225661"/>
                </a:lnTo>
                <a:lnTo>
                  <a:pt x="0" y="122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Z"/>
          </a:p>
        </p:txBody>
      </p:sp>
      <p:sp>
        <p:nvSpPr>
          <p:cNvPr id="24" name="Freeform 24"/>
          <p:cNvSpPr/>
          <p:nvPr/>
        </p:nvSpPr>
        <p:spPr>
          <a:xfrm>
            <a:off x="4597383" y="8727913"/>
            <a:ext cx="2894318" cy="847117"/>
          </a:xfrm>
          <a:custGeom>
            <a:avLst/>
            <a:gdLst/>
            <a:ahLst/>
            <a:cxnLst/>
            <a:rect l="l" t="t" r="r" b="b"/>
            <a:pathLst>
              <a:path w="2894318" h="847117">
                <a:moveTo>
                  <a:pt x="0" y="0"/>
                </a:moveTo>
                <a:lnTo>
                  <a:pt x="2894318" y="0"/>
                </a:lnTo>
                <a:lnTo>
                  <a:pt x="2894318" y="847117"/>
                </a:lnTo>
                <a:lnTo>
                  <a:pt x="0" y="8471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NZ"/>
          </a:p>
        </p:txBody>
      </p:sp>
      <p:sp>
        <p:nvSpPr>
          <p:cNvPr id="25" name="Freeform 25"/>
          <p:cNvSpPr/>
          <p:nvPr/>
        </p:nvSpPr>
        <p:spPr>
          <a:xfrm>
            <a:off x="5135602" y="7610865"/>
            <a:ext cx="2246327" cy="856412"/>
          </a:xfrm>
          <a:custGeom>
            <a:avLst/>
            <a:gdLst/>
            <a:ahLst/>
            <a:cxnLst/>
            <a:rect l="l" t="t" r="r" b="b"/>
            <a:pathLst>
              <a:path w="2246327" h="856412">
                <a:moveTo>
                  <a:pt x="0" y="0"/>
                </a:moveTo>
                <a:lnTo>
                  <a:pt x="2246327" y="0"/>
                </a:lnTo>
                <a:lnTo>
                  <a:pt x="2246327" y="856412"/>
                </a:lnTo>
                <a:lnTo>
                  <a:pt x="0" y="8564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NZ"/>
          </a:p>
        </p:txBody>
      </p:sp>
      <p:sp>
        <p:nvSpPr>
          <p:cNvPr id="26" name="Freeform 26"/>
          <p:cNvSpPr/>
          <p:nvPr/>
        </p:nvSpPr>
        <p:spPr>
          <a:xfrm>
            <a:off x="7999706" y="9041215"/>
            <a:ext cx="2288587" cy="434169"/>
          </a:xfrm>
          <a:custGeom>
            <a:avLst/>
            <a:gdLst/>
            <a:ahLst/>
            <a:cxnLst/>
            <a:rect l="l" t="t" r="r" b="b"/>
            <a:pathLst>
              <a:path w="2288587" h="434169">
                <a:moveTo>
                  <a:pt x="0" y="0"/>
                </a:moveTo>
                <a:lnTo>
                  <a:pt x="2288588" y="0"/>
                </a:lnTo>
                <a:lnTo>
                  <a:pt x="2288588" y="434170"/>
                </a:lnTo>
                <a:lnTo>
                  <a:pt x="0" y="4341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NZ"/>
          </a:p>
        </p:txBody>
      </p:sp>
      <p:sp>
        <p:nvSpPr>
          <p:cNvPr id="27" name="Freeform 27"/>
          <p:cNvSpPr/>
          <p:nvPr/>
        </p:nvSpPr>
        <p:spPr>
          <a:xfrm>
            <a:off x="8062455" y="7962569"/>
            <a:ext cx="2288587" cy="504707"/>
          </a:xfrm>
          <a:custGeom>
            <a:avLst/>
            <a:gdLst/>
            <a:ahLst/>
            <a:cxnLst/>
            <a:rect l="l" t="t" r="r" b="b"/>
            <a:pathLst>
              <a:path w="2288587" h="504707">
                <a:moveTo>
                  <a:pt x="0" y="0"/>
                </a:moveTo>
                <a:lnTo>
                  <a:pt x="2288587" y="0"/>
                </a:lnTo>
                <a:lnTo>
                  <a:pt x="2288587" y="504708"/>
                </a:lnTo>
                <a:lnTo>
                  <a:pt x="0" y="5047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NZ"/>
          </a:p>
        </p:txBody>
      </p:sp>
      <p:sp>
        <p:nvSpPr>
          <p:cNvPr id="28" name="TextBox 28"/>
          <p:cNvSpPr txBox="1"/>
          <p:nvPr/>
        </p:nvSpPr>
        <p:spPr>
          <a:xfrm>
            <a:off x="12484858" y="9228537"/>
            <a:ext cx="245864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68">
                <a:solidFill>
                  <a:srgbClr val="202F59"/>
                </a:solidFill>
                <a:latin typeface="Helios Bold"/>
                <a:ea typeface="Helios Bold"/>
                <a:cs typeface="Helios Bold"/>
                <a:sym typeface="Helios Bold"/>
              </a:rPr>
              <a:t>GUEST WIFI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10464" y="5991366"/>
            <a:ext cx="5681156" cy="83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3"/>
              </a:lnSpc>
              <a:spcBef>
                <a:spcPct val="0"/>
              </a:spcBef>
            </a:pP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2536728" y="5557787"/>
            <a:ext cx="14957078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spc="336" dirty="0">
                <a:solidFill>
                  <a:srgbClr val="FFFFFF"/>
                </a:solidFill>
                <a:latin typeface="Sunday"/>
                <a:ea typeface="Sunday"/>
                <a:cs typeface="Sunday"/>
                <a:sym typeface="Sunday"/>
              </a:rPr>
              <a:t>NAU MAI, HAERE MAI | WELCOME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924803" y="781378"/>
            <a:ext cx="5324528" cy="4575766"/>
            <a:chOff x="0" y="0"/>
            <a:chExt cx="7099370" cy="6101021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7099370" cy="6101021"/>
              <a:chOff x="0" y="0"/>
              <a:chExt cx="812800" cy="6985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202F59"/>
              </a:solidFill>
              <a:ln w="10477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4300" y="-57150"/>
                <a:ext cx="584200" cy="755650"/>
              </a:xfrm>
              <a:prstGeom prst="rect">
                <a:avLst/>
              </a:prstGeom>
            </p:spPr>
            <p:txBody>
              <a:bodyPr lIns="31838" tIns="31838" rIns="31838" bIns="31838" rtlCol="0" anchor="ctr"/>
              <a:lstStyle/>
              <a:p>
                <a:pPr algn="ctr">
                  <a:lnSpc>
                    <a:spcPts val="2818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353643" y="242805"/>
              <a:ext cx="6440481" cy="5577166"/>
              <a:chOff x="0" y="0"/>
              <a:chExt cx="4282440" cy="37084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282440" cy="3708400"/>
              </a:xfrm>
              <a:custGeom>
                <a:avLst/>
                <a:gdLst/>
                <a:ahLst/>
                <a:cxnLst/>
                <a:rect l="l" t="t" r="r" b="b"/>
                <a:pathLst>
                  <a:path w="4282440" h="3708400">
                    <a:moveTo>
                      <a:pt x="3211830" y="0"/>
                    </a:moveTo>
                    <a:lnTo>
                      <a:pt x="1070610" y="0"/>
                    </a:lnTo>
                    <a:lnTo>
                      <a:pt x="0" y="1854200"/>
                    </a:lnTo>
                    <a:lnTo>
                      <a:pt x="1070610" y="3708400"/>
                    </a:lnTo>
                    <a:lnTo>
                      <a:pt x="3211830" y="3708400"/>
                    </a:lnTo>
                    <a:lnTo>
                      <a:pt x="4282440" y="185420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-30129"/>
                </a:stretch>
              </a:blipFill>
              <a:ln w="152400" cap="sq">
                <a:solidFill>
                  <a:srgbClr val="E91D1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NZ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7179182">
            <a:off x="12729979" y="999564"/>
            <a:ext cx="11980961" cy="2444188"/>
            <a:chOff x="0" y="0"/>
            <a:chExt cx="10541123" cy="21504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41123" cy="2150452"/>
            </a:xfrm>
            <a:custGeom>
              <a:avLst/>
              <a:gdLst/>
              <a:ahLst/>
              <a:cxnLst/>
              <a:rect l="l" t="t" r="r" b="b"/>
              <a:pathLst>
                <a:path w="10541123" h="2150452">
                  <a:moveTo>
                    <a:pt x="10541123" y="1075226"/>
                  </a:moveTo>
                  <a:lnTo>
                    <a:pt x="10337923" y="2150452"/>
                  </a:lnTo>
                  <a:lnTo>
                    <a:pt x="203200" y="2150452"/>
                  </a:lnTo>
                  <a:lnTo>
                    <a:pt x="0" y="1075226"/>
                  </a:lnTo>
                  <a:lnTo>
                    <a:pt x="203200" y="0"/>
                  </a:lnTo>
                  <a:lnTo>
                    <a:pt x="10337923" y="0"/>
                  </a:lnTo>
                  <a:lnTo>
                    <a:pt x="10541123" y="1075226"/>
                  </a:lnTo>
                  <a:close/>
                </a:path>
              </a:pathLst>
            </a:custGeom>
            <a:solidFill>
              <a:srgbClr val="202F59"/>
            </a:solidFill>
          </p:spPr>
          <p:txBody>
            <a:bodyPr/>
            <a:lstStyle/>
            <a:p>
              <a:endParaRPr lang="en-N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4300" y="-28575"/>
              <a:ext cx="10312523" cy="2179027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82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58397" y="7124700"/>
            <a:ext cx="9289083" cy="8428868"/>
            <a:chOff x="0" y="0"/>
            <a:chExt cx="812800" cy="7375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37531"/>
            </a:xfrm>
            <a:custGeom>
              <a:avLst/>
              <a:gdLst/>
              <a:ahLst/>
              <a:cxnLst/>
              <a:rect l="l" t="t" r="r" b="b"/>
              <a:pathLst>
                <a:path w="812800" h="737531">
                  <a:moveTo>
                    <a:pt x="812800" y="368765"/>
                  </a:moveTo>
                  <a:lnTo>
                    <a:pt x="609600" y="737531"/>
                  </a:lnTo>
                  <a:lnTo>
                    <a:pt x="203200" y="737531"/>
                  </a:lnTo>
                  <a:lnTo>
                    <a:pt x="0" y="368765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68765"/>
                  </a:lnTo>
                  <a:close/>
                </a:path>
              </a:pathLst>
            </a:custGeom>
            <a:solidFill>
              <a:srgbClr val="FFFEFE"/>
            </a:solidFill>
            <a:ln w="676275" cap="sq">
              <a:solidFill>
                <a:srgbClr val="175A97"/>
              </a:solidFill>
              <a:prstDash val="solid"/>
              <a:miter/>
            </a:ln>
          </p:spPr>
          <p:txBody>
            <a:bodyPr/>
            <a:lstStyle/>
            <a:p>
              <a:endParaRPr lang="en-NZ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300" y="-28575"/>
              <a:ext cx="584200" cy="766106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286000" y="9807476"/>
            <a:ext cx="22367372" cy="1528493"/>
            <a:chOff x="0" y="0"/>
            <a:chExt cx="2889536" cy="1974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9536" cy="197459"/>
            </a:xfrm>
            <a:custGeom>
              <a:avLst/>
              <a:gdLst/>
              <a:ahLst/>
              <a:cxnLst/>
              <a:rect l="l" t="t" r="r" b="b"/>
              <a:pathLst>
                <a:path w="2889536" h="197459">
                  <a:moveTo>
                    <a:pt x="2889536" y="98729"/>
                  </a:moveTo>
                  <a:lnTo>
                    <a:pt x="2686336" y="197459"/>
                  </a:lnTo>
                  <a:lnTo>
                    <a:pt x="203200" y="197459"/>
                  </a:lnTo>
                  <a:lnTo>
                    <a:pt x="0" y="98729"/>
                  </a:lnTo>
                  <a:lnTo>
                    <a:pt x="203200" y="0"/>
                  </a:lnTo>
                  <a:lnTo>
                    <a:pt x="2686336" y="0"/>
                  </a:lnTo>
                  <a:lnTo>
                    <a:pt x="2889536" y="98729"/>
                  </a:lnTo>
                  <a:close/>
                </a:path>
              </a:pathLst>
            </a:custGeom>
            <a:solidFill>
              <a:srgbClr val="EC414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NZ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28575"/>
              <a:ext cx="2660936" cy="226034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412070" y="-783717"/>
            <a:ext cx="19132530" cy="1615059"/>
            <a:chOff x="0" y="0"/>
            <a:chExt cx="9628701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28701" cy="812800"/>
            </a:xfrm>
            <a:custGeom>
              <a:avLst/>
              <a:gdLst/>
              <a:ahLst/>
              <a:cxnLst/>
              <a:rect l="l" t="t" r="r" b="b"/>
              <a:pathLst>
                <a:path w="9628701" h="812800">
                  <a:moveTo>
                    <a:pt x="0" y="0"/>
                  </a:moveTo>
                  <a:lnTo>
                    <a:pt x="9628701" y="0"/>
                  </a:lnTo>
                  <a:lnTo>
                    <a:pt x="962870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C4143"/>
            </a:solidFill>
          </p:spPr>
          <p:txBody>
            <a:bodyPr/>
            <a:lstStyle/>
            <a:p>
              <a:endParaRPr lang="en-NZ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9628701" cy="831850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38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9564295" y="2387473"/>
            <a:ext cx="10193874" cy="7982805"/>
            <a:chOff x="0" y="0"/>
            <a:chExt cx="891970" cy="698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1970" cy="698500"/>
            </a:xfrm>
            <a:custGeom>
              <a:avLst/>
              <a:gdLst/>
              <a:ahLst/>
              <a:cxnLst/>
              <a:rect l="l" t="t" r="r" b="b"/>
              <a:pathLst>
                <a:path w="891970" h="698500">
                  <a:moveTo>
                    <a:pt x="891970" y="349250"/>
                  </a:moveTo>
                  <a:lnTo>
                    <a:pt x="68877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88770" y="0"/>
                  </a:lnTo>
                  <a:lnTo>
                    <a:pt x="891970" y="349250"/>
                  </a:lnTo>
                  <a:close/>
                </a:path>
              </a:pathLst>
            </a:custGeom>
            <a:solidFill>
              <a:srgbClr val="FFFEFE"/>
            </a:solidFill>
            <a:ln w="857250" cap="sq">
              <a:solidFill>
                <a:srgbClr val="175A97"/>
              </a:solidFill>
              <a:prstDash val="solid"/>
              <a:miter/>
            </a:ln>
          </p:spPr>
          <p:txBody>
            <a:bodyPr/>
            <a:lstStyle/>
            <a:p>
              <a:endParaRPr lang="en-NZ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300" y="-28575"/>
              <a:ext cx="663370" cy="727075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299" y="7413448"/>
            <a:ext cx="2413078" cy="2413078"/>
          </a:xfrm>
          <a:prstGeom prst="rect">
            <a:avLst/>
          </a:prstGeom>
        </p:spPr>
      </p:pic>
      <p:sp>
        <p:nvSpPr>
          <p:cNvPr id="21" name="Freeform 21"/>
          <p:cNvSpPr/>
          <p:nvPr/>
        </p:nvSpPr>
        <p:spPr>
          <a:xfrm>
            <a:off x="13191621" y="7854446"/>
            <a:ext cx="1406785" cy="1225661"/>
          </a:xfrm>
          <a:custGeom>
            <a:avLst/>
            <a:gdLst/>
            <a:ahLst/>
            <a:cxnLst/>
            <a:rect l="l" t="t" r="r" b="b"/>
            <a:pathLst>
              <a:path w="1406785" h="1225661">
                <a:moveTo>
                  <a:pt x="0" y="0"/>
                </a:moveTo>
                <a:lnTo>
                  <a:pt x="1406784" y="0"/>
                </a:lnTo>
                <a:lnTo>
                  <a:pt x="1406784" y="1225661"/>
                </a:lnTo>
                <a:lnTo>
                  <a:pt x="0" y="1225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Z"/>
          </a:p>
        </p:txBody>
      </p:sp>
      <p:sp>
        <p:nvSpPr>
          <p:cNvPr id="22" name="Freeform 22"/>
          <p:cNvSpPr/>
          <p:nvPr/>
        </p:nvSpPr>
        <p:spPr>
          <a:xfrm>
            <a:off x="9784082" y="3695700"/>
            <a:ext cx="7898293" cy="2695293"/>
          </a:xfrm>
          <a:custGeom>
            <a:avLst/>
            <a:gdLst/>
            <a:ahLst/>
            <a:cxnLst/>
            <a:rect l="l" t="t" r="r" b="b"/>
            <a:pathLst>
              <a:path w="7898293" h="2695293">
                <a:moveTo>
                  <a:pt x="0" y="0"/>
                </a:moveTo>
                <a:lnTo>
                  <a:pt x="7898293" y="0"/>
                </a:lnTo>
                <a:lnTo>
                  <a:pt x="7898293" y="2695293"/>
                </a:lnTo>
                <a:lnTo>
                  <a:pt x="0" y="26952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NZ"/>
          </a:p>
        </p:txBody>
      </p:sp>
      <p:sp>
        <p:nvSpPr>
          <p:cNvPr id="23" name="TextBox 23"/>
          <p:cNvSpPr txBox="1"/>
          <p:nvPr/>
        </p:nvSpPr>
        <p:spPr>
          <a:xfrm>
            <a:off x="1046770" y="717134"/>
            <a:ext cx="10344893" cy="1507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89"/>
              </a:lnSpc>
              <a:spcBef>
                <a:spcPct val="0"/>
              </a:spcBef>
            </a:pPr>
            <a:r>
              <a:rPr lang="en-US" sz="8849">
                <a:solidFill>
                  <a:srgbClr val="202F59"/>
                </a:solidFill>
                <a:latin typeface="Knockout Cruiserweight Bold"/>
                <a:ea typeface="Knockout Cruiserweight Bold"/>
                <a:cs typeface="Knockout Cruiserweight Bold"/>
                <a:sym typeface="Knockout Cruiserweight Bold"/>
              </a:rPr>
              <a:t>EMERGENCY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98272" y="1050509"/>
            <a:ext cx="10460131" cy="117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9"/>
              </a:lnSpc>
            </a:pPr>
            <a:r>
              <a:rPr lang="en-US" sz="8849">
                <a:solidFill>
                  <a:srgbClr val="202F59"/>
                </a:solidFill>
                <a:latin typeface="Knockout Cruiserweight Bold"/>
                <a:ea typeface="Knockout Cruiserweight Bold"/>
                <a:cs typeface="Knockout Cruiserweight Bold"/>
                <a:sym typeface="Knockout Cruiserweight Bold"/>
              </a:rPr>
              <a:t>PROCEDURES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84858" y="9228537"/>
            <a:ext cx="2678942" cy="494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68" dirty="0">
                <a:solidFill>
                  <a:srgbClr val="202F59"/>
                </a:solidFill>
                <a:latin typeface="Helios Bold"/>
                <a:ea typeface="Helios Bold"/>
                <a:cs typeface="Helios Bold"/>
                <a:sym typeface="Helios Bold"/>
              </a:rPr>
              <a:t>GUEST WIFI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10464" y="5991366"/>
            <a:ext cx="5681156" cy="83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3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055525" y="3933966"/>
            <a:ext cx="8728557" cy="425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168">
                <a:solidFill>
                  <a:srgbClr val="202F59"/>
                </a:solidFill>
                <a:latin typeface="Helios"/>
                <a:ea typeface="Helios"/>
                <a:cs typeface="Helios"/>
                <a:sym typeface="Helios"/>
              </a:rPr>
              <a:t>Get underneath tables, stand or crouch against walls, or crouch while protecting your head.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168">
                <a:solidFill>
                  <a:srgbClr val="202F59"/>
                </a:solidFill>
                <a:latin typeface="Helios"/>
                <a:ea typeface="Helios"/>
                <a:cs typeface="Helios"/>
                <a:sym typeface="Helios"/>
              </a:rPr>
              <a:t>Do not try to walk, crawl if you need to move. 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168">
                <a:solidFill>
                  <a:srgbClr val="202F59"/>
                </a:solidFill>
                <a:latin typeface="Helios"/>
                <a:ea typeface="Helios"/>
                <a:cs typeface="Helios"/>
                <a:sym typeface="Helios"/>
              </a:rPr>
              <a:t>Do not leave the building.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168">
                <a:solidFill>
                  <a:srgbClr val="202F59"/>
                </a:solidFill>
                <a:latin typeface="Helios"/>
                <a:ea typeface="Helios"/>
                <a:cs typeface="Helios"/>
                <a:sym typeface="Helios"/>
              </a:rPr>
              <a:t>When shaking stops, calmly evacuate the building to nearest evacuation point.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46465" y="2279776"/>
            <a:ext cx="579507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spc="336">
                <a:solidFill>
                  <a:srgbClr val="202F59"/>
                </a:solidFill>
                <a:latin typeface="Helios Bold"/>
                <a:ea typeface="Helios Bold"/>
                <a:cs typeface="Helios Bold"/>
                <a:sym typeface="Helios Bold"/>
              </a:rPr>
              <a:t>EARTHQUAKE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eDocument" ma:contentTypeID="0x010100EB3043BC43940D4AB7BE748D85B0B7D5" ma:contentTypeVersion="80" ma:contentTypeDescription="Create a new document." ma:contentTypeScope="" ma:versionID="c9de15032ecde81d5dbd116d33404b99">
  <xsd:schema xmlns:xsd="http://www.w3.org/2001/XMLSchema" xmlns:xs="http://www.w3.org/2001/XMLSchema" xmlns:p="http://schemas.microsoft.com/office/2006/metadata/properties" xmlns:ns2="7a8ad139-030a-46d4-980b-b3117a0bafbe" xmlns:ns3="abef9ebf-1eaf-437c-a4d0-0ec6457202a5" xmlns:ns4="1500951b-8094-45ea-b225-01630ae14bd0" targetNamespace="http://schemas.microsoft.com/office/2006/metadata/properties" ma:root="true" ma:fieldsID="45aef5d6ed69e09a55b11311f76a4bf5" ns2:_="" ns3:_="" ns4:_="">
    <xsd:import namespace="7a8ad139-030a-46d4-980b-b3117a0bafbe"/>
    <xsd:import namespace="abef9ebf-1eaf-437c-a4d0-0ec6457202a5"/>
    <xsd:import namespace="1500951b-8094-45ea-b225-01630ae14bd0"/>
    <xsd:element name="properties">
      <xsd:complexType>
        <xsd:sequence>
          <xsd:element name="documentManagement">
            <xsd:complexType>
              <xsd:all>
                <xsd:element ref="ns2:hd6c1f1a7946409a8c564dc6fb242ce3" minOccurs="0"/>
                <xsd:element ref="ns3:TaxCatchAll" minOccurs="0"/>
                <xsd:element ref="ns2:l4400cd3368d4c79a8b4648e23d98427" minOccurs="0"/>
                <xsd:element ref="ns2:jf10dadbfb4945bfba48eff7add1cef2" minOccurs="0"/>
                <xsd:element ref="ns2:hc732a941027433badf71821e2af7a5e" minOccurs="0"/>
                <xsd:element ref="ns2:m1c051e5f4a94ac69b3a1e2fc6d61a4f" minOccurs="0"/>
                <xsd:element ref="ns2:f6d64217b22345c5a5b166332951d5dc" minOccurs="0"/>
                <xsd:element ref="ns4:Function" minOccurs="0"/>
                <xsd:element ref="ns4:DocSubtype" minOccurs="0"/>
                <xsd:element ref="ns4:AggregationNarrative" minOccurs="0"/>
                <xsd:element ref="ns4:AggregationStatus" minOccurs="0"/>
                <xsd:element ref="ns4:BusinessValue" minOccurs="0"/>
                <xsd:element ref="ns4:CategoryName" minOccurs="0"/>
                <xsd:element ref="ns4:CategoryValue" minOccurs="0"/>
                <xsd:element ref="ns4:Channel" minOccurs="0"/>
                <xsd:element ref="ns4:DocumentType" minOccurs="0"/>
                <xsd:element ref="ns4:ILFrom" minOccurs="0"/>
                <xsd:element ref="ns4:FunctionGroup" minOccurs="0"/>
                <xsd:element ref="ns4:HarmoineUIHidden" minOccurs="0"/>
                <xsd:element ref="ns4:Level2" minOccurs="0"/>
                <xsd:element ref="ns4:Level3" minOccurs="0"/>
                <xsd:element ref="ns4:MailPreviewData" minOccurs="0"/>
                <xsd:element ref="ns4:Narrative" minOccurs="0"/>
                <xsd:element ref="ns4:OriginalSubject" minOccurs="0"/>
                <xsd:element ref="ns4:OverrideLabel" minOccurs="0"/>
                <xsd:element ref="ns4:PRADate1" minOccurs="0"/>
                <xsd:element ref="ns4:PRADate2" minOccurs="0"/>
                <xsd:element ref="ns4:PRADate3" minOccurs="0"/>
                <xsd:element ref="ns4:PRADateDisposal" minOccurs="0"/>
                <xsd:element ref="ns4:PRADateTrigger" minOccurs="0"/>
                <xsd:element ref="ns4:PRAText1" minOccurs="0"/>
                <xsd:element ref="ns4:PRAText2" minOccurs="0"/>
                <xsd:element ref="ns4:PRAText3" minOccurs="0"/>
                <xsd:element ref="ns4:PRAText4" minOccurs="0"/>
                <xsd:element ref="ns4:PRAText5" minOccurs="0"/>
                <xsd:element ref="ns4:PRAType" minOccurs="0"/>
                <xsd:element ref="ns4:Project" minOccurs="0"/>
                <xsd:element ref="ns4:Received" minOccurs="0"/>
                <xsd:element ref="ns4:RelatedPeople" minOccurs="0"/>
                <xsd:element ref="ns4:SecurityClassification" minOccurs="0"/>
                <xsd:element ref="ns4:Sent" minOccurs="0"/>
                <xsd:element ref="ns4:Team" minOccurs="0"/>
                <xsd:element ref="ns4:To" minOccurs="0"/>
                <xsd:element ref="ns4:Year" minOccurs="0"/>
                <xsd:element ref="ns4:RetentionLabel" minOccurs="0"/>
                <xsd:element ref="ns4:SectionName" minOccurs="0"/>
                <xsd:element ref="ns4:SubsectionName" minOccurs="0"/>
                <xsd:element ref="ns4:Activity" minOccurs="0"/>
                <xsd:element ref="ns4:Case" minOccurs="0"/>
                <xsd:element ref="ns4:SetLabel" minOccurs="0"/>
                <xsd:element ref="ns4:Subactivity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Faculty" minOccurs="0"/>
                <xsd:element ref="ns2:Depart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8ad139-030a-46d4-980b-b3117a0bafbe" elementFormDefault="qualified">
    <xsd:import namespace="http://schemas.microsoft.com/office/2006/documentManagement/types"/>
    <xsd:import namespace="http://schemas.microsoft.com/office/infopath/2007/PartnerControls"/>
    <xsd:element name="hd6c1f1a7946409a8c564dc6fb242ce3" ma:index="8" nillable="true" ma:taxonomy="true" ma:internalName="hd6c1f1a7946409a8c564dc6fb242ce3" ma:taxonomyFieldName="Topics" ma:displayName="Topics" ma:readOnly="false" ma:default="" ma:fieldId="{1d6c1f1a-7946-409a-8c56-4dc6fb242ce3}" ma:taxonomyMulti="true" ma:sspId="b9d2b188-b8f0-4527-ab9c-6ed07e2b5a47" ma:termSetId="47b01bbb-10fa-4f4d-83cf-7456dd95a96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400cd3368d4c79a8b4648e23d98427" ma:index="10" nillable="true" ma:taxonomy="true" ma:internalName="l4400cd3368d4c79a8b4648e23d98427" ma:taxonomyFieldName="BusinessClassification" ma:displayName="Business Classification" ma:readOnly="false" ma:default="" ma:fieldId="{54400cd3-368d-4c79-a8b4-648e23d98427}" ma:sspId="b9d2b188-b8f0-4527-ab9c-6ed07e2b5a47" ma:termSetId="460e2f8f-59fa-4f57-b918-f189a5cd935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f10dadbfb4945bfba48eff7add1cef2" ma:index="11" nillable="true" ma:taxonomy="true" ma:internalName="jf10dadbfb4945bfba48eff7add1cef2" ma:taxonomyFieldName="Section" ma:displayName="Section" ma:readOnly="false" ma:default="" ma:fieldId="{3f10dadb-fb49-45bf-ba48-eff7add1cef2}" ma:sspId="b9d2b188-b8f0-4527-ab9c-6ed07e2b5a47" ma:termSetId="827e3b71-05c9-4ee7-abcc-d1a04886e09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c732a941027433badf71821e2af7a5e" ma:index="12" nillable="true" ma:taxonomy="true" ma:internalName="hc732a941027433badf71821e2af7a5e" ma:taxonomyFieldName="PageType" ma:displayName="Page Type" ma:readOnly="false" ma:default="" ma:fieldId="{1c732a94-1027-433b-adf7-1821e2af7a5e}" ma:sspId="b9d2b188-b8f0-4527-ab9c-6ed07e2b5a47" ma:termSetId="6b9df878-6d8c-4433-97a5-23802ff9cb8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1c051e5f4a94ac69b3a1e2fc6d61a4f" ma:index="13" nillable="true" ma:taxonomy="true" ma:internalName="m1c051e5f4a94ac69b3a1e2fc6d61a4f" ma:taxonomyFieldName="NewsType" ma:displayName="News Type" ma:readOnly="false" ma:default="" ma:fieldId="{61c051e5-f4a9-4ac6-9b3a-1e2fc6d61a4f}" ma:sspId="b9d2b188-b8f0-4527-ab9c-6ed07e2b5a47" ma:termSetId="687ec1c4-f27f-41aa-b96a-3f7061badab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6d64217b22345c5a5b166332951d5dc" ma:index="14" nillable="true" ma:taxonomy="true" ma:internalName="f6d64217b22345c5a5b166332951d5dc" ma:taxonomyFieldName="Community" ma:displayName="Community" ma:readOnly="false" ma:default="" ma:fieldId="{f6d64217-b223-45c5-a5b1-66332951d5dc}" ma:sspId="b9d2b188-b8f0-4527-ab9c-6ed07e2b5a47" ma:termSetId="ba5d77f1-2b2e-4c97-93fa-1abaa3a858a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Metadata" ma:index="6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6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7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72" nillable="true" ma:taxonomy="true" ma:internalName="lcf76f155ced4ddcb4097134ff3c332f" ma:taxonomyFieldName="MediaServiceImageTags" ma:displayName="Image Tags" ma:readOnly="false" ma:fieldId="{5cf76f15-5ced-4ddc-b409-7134ff3c332f}" ma:taxonomyMulti="true" ma:sspId="b9d2b188-b8f0-4527-ab9c-6ed07e2b5a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7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7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7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7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77" nillable="true" ma:displayName="MediaLengthInSeconds" ma:hidden="true" ma:internalName="MediaLengthInSeconds" ma:readOnly="true">
      <xsd:simpleType>
        <xsd:restriction base="dms:Unknown"/>
      </xsd:simpleType>
    </xsd:element>
    <xsd:element name="Faculty" ma:index="78" nillable="true" ma:displayName="Faculty" ma:default="Faculty of Engineering" ma:hidden="true" ma:internalName="Faculty">
      <xsd:simpleType>
        <xsd:restriction base="dms:Text"/>
      </xsd:simpleType>
    </xsd:element>
    <xsd:element name="Department" ma:index="79" nillable="true" ma:displayName="Department" ma:default="Wireless Research Centre" ma:hidden="true" ma:internalName="Departmen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ef9ebf-1eaf-437c-a4d0-0ec6457202a5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20182904-8ec1-4ccf-a916-a36a1a1edaa3}" ma:internalName="TaxCatchAll" ma:showField="CatchAllData" ma:web="abef9ebf-1eaf-437c-a4d0-0ec6457202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00951b-8094-45ea-b225-01630ae14bd0" elementFormDefault="qualified">
    <xsd:import namespace="http://schemas.microsoft.com/office/2006/documentManagement/types"/>
    <xsd:import namespace="http://schemas.microsoft.com/office/infopath/2007/PartnerControls"/>
    <xsd:element name="Function" ma:index="15" nillable="true" ma:displayName="Function" ma:default="Projects" ma:hidden="true" ma:internalName="Function" ma:readOnly="false">
      <xsd:simpleType>
        <xsd:restriction base="dms:Text">
          <xsd:maxLength value="255"/>
        </xsd:restriction>
      </xsd:simpleType>
    </xsd:element>
    <xsd:element name="DocSubtype" ma:index="16" nillable="true" ma:displayName="DocSubtype" ma:hidden="true" ma:internalName="DocSubtype" ma:readOnly="false">
      <xsd:simpleType>
        <xsd:restriction base="dms:Text">
          <xsd:maxLength value="255"/>
        </xsd:restriction>
      </xsd:simpleType>
    </xsd:element>
    <xsd:element name="AggregationNarrative" ma:index="17" nillable="true" ma:displayName="Aggregation Narrative" ma:hidden="true" ma:internalName="AggregationNarrative" ma:readOnly="false">
      <xsd:simpleType>
        <xsd:restriction base="dms:Text">
          <xsd:maxLength value="255"/>
        </xsd:restriction>
      </xsd:simpleType>
    </xsd:element>
    <xsd:element name="AggregationStatus" ma:index="18" nillable="true" ma:displayName="Aggregation Status" ma:format="Dropdown" ma:hidden="true" ma:internalName="AggregationStatus" ma:readOnly="false">
      <xsd:simpleType>
        <xsd:restriction base="dms:Choice">
          <xsd:enumeration value="Delete Soon"/>
          <xsd:enumeration value="Transfer Soon"/>
          <xsd:enumeration value="Appraise Soon"/>
          <xsd:enumeration value="Delete"/>
          <xsd:enumeration value="Transfer"/>
          <xsd:enumeration value="Appraise"/>
          <xsd:enumeration value="Hold"/>
          <xsd:enumeration value="Normal"/>
          <xsd:enumeration value="Archive"/>
        </xsd:restriction>
      </xsd:simpleType>
    </xsd:element>
    <xsd:element name="BusinessValue" ma:index="19" nillable="true" ma:displayName="Business Value" ma:hidden="true" ma:internalName="BusinessValue" ma:readOnly="false">
      <xsd:simpleType>
        <xsd:restriction base="dms:Text">
          <xsd:maxLength value="255"/>
        </xsd:restriction>
      </xsd:simpleType>
    </xsd:element>
    <xsd:element name="CategoryName" ma:index="20" nillable="true" ma:displayName="Category 1" ma:hidden="true" ma:internalName="CategoryName" ma:readOnly="false">
      <xsd:simpleType>
        <xsd:restriction base="dms:Text">
          <xsd:maxLength value="255"/>
        </xsd:restriction>
      </xsd:simpleType>
    </xsd:element>
    <xsd:element name="CategoryValue" ma:index="21" nillable="true" ma:displayName="Category 2" ma:hidden="true" ma:internalName="CategoryValue" ma:readOnly="false">
      <xsd:simpleType>
        <xsd:restriction base="dms:Text">
          <xsd:maxLength value="255"/>
        </xsd:restriction>
      </xsd:simpleType>
    </xsd:element>
    <xsd:element name="Channel" ma:index="22" nillable="true" ma:displayName="Channel" ma:hidden="true" ma:internalName="Channel" ma:readOnly="false">
      <xsd:simpleType>
        <xsd:restriction base="dms:Text">
          <xsd:maxLength value="255"/>
        </xsd:restriction>
      </xsd:simpleType>
    </xsd:element>
    <xsd:element name="DocumentType" ma:index="23" nillable="true" ma:displayName="Document Type" ma:format="Dropdown" ma:hidden="true" ma:internalName="DocumentType">
      <xsd:simpleType>
        <xsd:union memberTypes="dms:Text">
          <xsd:simpleType>
            <xsd:restriction base="dms:Choice">
              <xsd:enumeration value="APPLICATION, certificate, consent related"/>
              <xsd:enumeration value="CONTRACT, Variation, Agreement"/>
              <xsd:enumeration value="CORRESPONDENCE"/>
              <xsd:enumeration value="DRAWING, Plan, Map"/>
              <xsd:enumeration value="EMPLOYMENT related"/>
              <xsd:enumeration value="FINANCIAL related"/>
              <xsd:enumeration value="KNOWLEDGE article"/>
              <xsd:enumeration value="MEETING related"/>
              <xsd:enumeration value="MEMO, Filenote, Email"/>
              <xsd:enumeration value="MODEL, Calculation, Working"/>
              <xsd:enumeration value="PHOTO, Image or Multi-media"/>
              <xsd:enumeration value="PRESENTATION"/>
              <xsd:enumeration value="PUBLICATION material"/>
              <xsd:enumeration value="PURCHASING related"/>
              <xsd:enumeration value="REPORT, or planning related"/>
              <xsd:enumeration value="RULES, Policy, Bylaw, procedure"/>
              <xsd:enumeration value="SERVICE REQUEST related"/>
              <xsd:enumeration value="SPECIFICATION or standard"/>
              <xsd:enumeration value="SUPPLIER PRODUCT Info"/>
              <xsd:enumeration value="TEMPLATE, Checklist or Form"/>
            </xsd:restriction>
          </xsd:simpleType>
        </xsd:union>
      </xsd:simpleType>
    </xsd:element>
    <xsd:element name="ILFrom" ma:index="24" nillable="true" ma:displayName="From" ma:hidden="true" ma:internalName="ILFrom" ma:readOnly="false">
      <xsd:simpleType>
        <xsd:restriction base="dms:Text">
          <xsd:maxLength value="255"/>
        </xsd:restriction>
      </xsd:simpleType>
    </xsd:element>
    <xsd:element name="FunctionGroup" ma:index="25" nillable="true" ma:displayName="Function Group" ma:hidden="true" ma:internalName="FunctionGroup" ma:readOnly="false">
      <xsd:simpleType>
        <xsd:restriction base="dms:Text">
          <xsd:maxLength value="255"/>
        </xsd:restriction>
      </xsd:simpleType>
    </xsd:element>
    <xsd:element name="HarmoineUIHidden" ma:index="26" nillable="true" ma:displayName="HarmoineUIHidden" ma:hidden="true" ma:internalName="HarmoineUIHidden" ma:readOnly="false">
      <xsd:simpleType>
        <xsd:restriction base="dms:Text">
          <xsd:maxLength value="255"/>
        </xsd:restriction>
      </xsd:simpleType>
    </xsd:element>
    <xsd:element name="Level2" ma:index="28" nillable="true" ma:displayName="Level2" ma:hidden="true" ma:internalName="Level2" ma:readOnly="false">
      <xsd:simpleType>
        <xsd:restriction base="dms:Text">
          <xsd:maxLength value="255"/>
        </xsd:restriction>
      </xsd:simpleType>
    </xsd:element>
    <xsd:element name="Level3" ma:index="29" nillable="true" ma:displayName="Level3" ma:hidden="true" ma:internalName="Level3" ma:readOnly="false">
      <xsd:simpleType>
        <xsd:restriction base="dms:Text">
          <xsd:maxLength value="255"/>
        </xsd:restriction>
      </xsd:simpleType>
    </xsd:element>
    <xsd:element name="MailPreviewData" ma:index="30" nillable="true" ma:displayName="MailPreviewData" ma:hidden="true" ma:internalName="MailPreviewData" ma:readOnly="false">
      <xsd:simpleType>
        <xsd:restriction base="dms:Note"/>
      </xsd:simpleType>
    </xsd:element>
    <xsd:element name="Narrative" ma:index="31" nillable="true" ma:displayName="Narrative" ma:hidden="true" ma:internalName="Narrative" ma:readOnly="false">
      <xsd:simpleType>
        <xsd:restriction base="dms:Note"/>
      </xsd:simpleType>
    </xsd:element>
    <xsd:element name="OriginalSubject" ma:index="32" nillable="true" ma:displayName="Original Subject" ma:hidden="true" ma:internalName="OriginalSubject" ma:readOnly="false">
      <xsd:simpleType>
        <xsd:restriction base="dms:Text">
          <xsd:maxLength value="255"/>
        </xsd:restriction>
      </xsd:simpleType>
    </xsd:element>
    <xsd:element name="OverrideLabel" ma:index="33" nillable="true" ma:displayName="Override Label" ma:hidden="true" ma:internalName="OverrideLabel" ma:readOnly="false">
      <xsd:simpleType>
        <xsd:restriction base="dms:Text">
          <xsd:maxLength value="255"/>
        </xsd:restriction>
      </xsd:simpleType>
    </xsd:element>
    <xsd:element name="PRADate1" ma:index="34" nillable="true" ma:displayName="PRA Date 1" ma:format="DateOnly" ma:hidden="true" ma:internalName="PRADate1" ma:readOnly="false">
      <xsd:simpleType>
        <xsd:restriction base="dms:DateTime"/>
      </xsd:simpleType>
    </xsd:element>
    <xsd:element name="PRADate2" ma:index="35" nillable="true" ma:displayName="PRA Date 2" ma:format="DateOnly" ma:hidden="true" ma:internalName="PRADate2" ma:readOnly="false">
      <xsd:simpleType>
        <xsd:restriction base="dms:DateTime"/>
      </xsd:simpleType>
    </xsd:element>
    <xsd:element name="PRADate3" ma:index="36" nillable="true" ma:displayName="PRA Date 3" ma:format="DateOnly" ma:hidden="true" ma:internalName="PRADate3" ma:readOnly="false">
      <xsd:simpleType>
        <xsd:restriction base="dms:DateTime"/>
      </xsd:simpleType>
    </xsd:element>
    <xsd:element name="PRADateDisposal" ma:index="37" nillable="true" ma:displayName="PRA Date Disposal" ma:format="DateOnly" ma:hidden="true" ma:internalName="PRADateDisposal" ma:readOnly="false">
      <xsd:simpleType>
        <xsd:restriction base="dms:DateTime"/>
      </xsd:simpleType>
    </xsd:element>
    <xsd:element name="PRADateTrigger" ma:index="38" nillable="true" ma:displayName="PRA Date Trigger" ma:format="DateOnly" ma:hidden="true" ma:internalName="PRADateTrigger" ma:readOnly="false">
      <xsd:simpleType>
        <xsd:restriction base="dms:DateTime"/>
      </xsd:simpleType>
    </xsd:element>
    <xsd:element name="PRAText1" ma:index="39" nillable="true" ma:displayName="PRA Text 1" ma:hidden="true" ma:internalName="PRAText1" ma:readOnly="false">
      <xsd:simpleType>
        <xsd:restriction base="dms:Text">
          <xsd:maxLength value="255"/>
        </xsd:restriction>
      </xsd:simpleType>
    </xsd:element>
    <xsd:element name="PRAText2" ma:index="40" nillable="true" ma:displayName="PRA Text 2" ma:hidden="true" ma:internalName="PRAText2" ma:readOnly="false">
      <xsd:simpleType>
        <xsd:restriction base="dms:Text">
          <xsd:maxLength value="255"/>
        </xsd:restriction>
      </xsd:simpleType>
    </xsd:element>
    <xsd:element name="PRAText3" ma:index="41" nillable="true" ma:displayName="PRA Text 3" ma:hidden="true" ma:internalName="PRAText3" ma:readOnly="false">
      <xsd:simpleType>
        <xsd:restriction base="dms:Text">
          <xsd:maxLength value="255"/>
        </xsd:restriction>
      </xsd:simpleType>
    </xsd:element>
    <xsd:element name="PRAText4" ma:index="42" nillable="true" ma:displayName="PRA Text 4" ma:hidden="true" ma:internalName="PRAText4" ma:readOnly="false">
      <xsd:simpleType>
        <xsd:restriction base="dms:Text">
          <xsd:maxLength value="255"/>
        </xsd:restriction>
      </xsd:simpleType>
    </xsd:element>
    <xsd:element name="PRAText5" ma:index="43" nillable="true" ma:displayName="PRA Text 5" ma:hidden="true" ma:internalName="PRAText5" ma:readOnly="false">
      <xsd:simpleType>
        <xsd:restriction base="dms:Text">
          <xsd:maxLength value="255"/>
        </xsd:restriction>
      </xsd:simpleType>
    </xsd:element>
    <xsd:element name="PRAType" ma:index="44" nillable="true" ma:displayName="PRA Type" ma:hidden="true" ma:internalName="PRAType" ma:readOnly="false">
      <xsd:simpleType>
        <xsd:restriction base="dms:Text">
          <xsd:maxLength value="255"/>
        </xsd:restriction>
      </xsd:simpleType>
    </xsd:element>
    <xsd:element name="Project" ma:index="45" nillable="true" ma:displayName="Project" ma:hidden="true" ma:internalName="Project" ma:readOnly="false">
      <xsd:simpleType>
        <xsd:restriction base="dms:Text">
          <xsd:maxLength value="255"/>
        </xsd:restriction>
      </xsd:simpleType>
    </xsd:element>
    <xsd:element name="Received" ma:index="46" nillable="true" ma:displayName="Received" ma:format="DateOnly" ma:hidden="true" ma:internalName="Received" ma:readOnly="false">
      <xsd:simpleType>
        <xsd:restriction base="dms:DateTime"/>
      </xsd:simpleType>
    </xsd:element>
    <xsd:element name="RelatedPeople" ma:index="47" nillable="true" ma:displayName="Related People" ma:hidden="true" ma:list="UserInfo" ma:SearchPeopleOnly="false" ma:SharePointGroup="0" ma:internalName="RelatedPeople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ecurityClassification" ma:index="48" nillable="true" ma:displayName="Security Classification" ma:format="Dropdown" ma:hidden="true" ma:internalName="SecurityClassification">
      <xsd:simpleType>
        <xsd:union memberTypes="dms:Text">
          <xsd:simpleType>
            <xsd:restriction base="dms:Choice">
              <xsd:enumeration value="Confidential"/>
              <xsd:enumeration value="Restricted"/>
              <xsd:enumeration value="Unrestricted"/>
            </xsd:restriction>
          </xsd:simpleType>
        </xsd:union>
      </xsd:simpleType>
    </xsd:element>
    <xsd:element name="Sent" ma:index="49" nillable="true" ma:displayName="Sent" ma:format="DateOnly" ma:hidden="true" ma:internalName="Sent" ma:readOnly="false">
      <xsd:simpleType>
        <xsd:restriction base="dms:DateTime"/>
      </xsd:simpleType>
    </xsd:element>
    <xsd:element name="Team" ma:index="51" nillable="true" ma:displayName="Team" ma:default="Australian Communications Theory Workshop" ma:hidden="true" ma:internalName="Team" ma:readOnly="false">
      <xsd:simpleType>
        <xsd:restriction base="dms:Text">
          <xsd:maxLength value="255"/>
        </xsd:restriction>
      </xsd:simpleType>
    </xsd:element>
    <xsd:element name="To" ma:index="52" nillable="true" ma:displayName="To" ma:hidden="true" ma:internalName="To" ma:readOnly="false">
      <xsd:simpleType>
        <xsd:restriction base="dms:Text">
          <xsd:maxLength value="255"/>
        </xsd:restriction>
      </xsd:simpleType>
    </xsd:element>
    <xsd:element name="Year" ma:index="53" nillable="true" ma:displayName="Year" ma:hidden="true" ma:internalName="Year" ma:readOnly="false">
      <xsd:simpleType>
        <xsd:restriction base="dms:Text">
          <xsd:maxLength value="255"/>
        </xsd:restriction>
      </xsd:simpleType>
    </xsd:element>
    <xsd:element name="RetentionLabel" ma:index="54" nillable="true" ma:displayName="RetentionLabel" ma:hidden="true" ma:internalName="RetentionLabel" ma:readOnly="false">
      <xsd:simpleType>
        <xsd:restriction base="dms:Text">
          <xsd:maxLength value="255"/>
        </xsd:restriction>
      </xsd:simpleType>
    </xsd:element>
    <xsd:element name="SectionName" ma:index="58" nillable="true" ma:displayName="Section Name" ma:hidden="true" ma:internalName="SectionName" ma:readOnly="false">
      <xsd:simpleType>
        <xsd:restriction base="dms:Text">
          <xsd:maxLength value="255"/>
        </xsd:restriction>
      </xsd:simpleType>
    </xsd:element>
    <xsd:element name="SubsectionName" ma:index="59" nillable="true" ma:displayName="Subsection Name" ma:hidden="true" ma:internalName="SubsectionName" ma:readOnly="false">
      <xsd:simpleType>
        <xsd:restriction base="dms:Text">
          <xsd:maxLength value="255"/>
        </xsd:restriction>
      </xsd:simpleType>
    </xsd:element>
    <xsd:element name="Activity" ma:index="63" nillable="true" ma:displayName="Activity" ma:default="Internal Projects" ma:hidden="true" ma:internalName="Activity" ma:readOnly="false">
      <xsd:simpleType>
        <xsd:restriction base="dms:Text">
          <xsd:maxLength value="255"/>
        </xsd:restriction>
      </xsd:simpleType>
    </xsd:element>
    <xsd:element name="Case" ma:index="64" nillable="true" ma:displayName="Case" ma:default="NA" ma:hidden="true" ma:internalName="Case" ma:readOnly="false">
      <xsd:simpleType>
        <xsd:restriction base="dms:Text">
          <xsd:maxLength value="255"/>
        </xsd:restriction>
      </xsd:simpleType>
    </xsd:element>
    <xsd:element name="SetLabel" ma:index="65" nillable="true" ma:displayName="Set Label" ma:default="D10M" ma:hidden="true" ma:internalName="SetLabel" ma:readOnly="false">
      <xsd:simpleType>
        <xsd:restriction base="dms:Text">
          <xsd:maxLength value="255"/>
        </xsd:restriction>
      </xsd:simpleType>
    </xsd:element>
    <xsd:element name="Subactivity" ma:index="66" nillable="true" ma:displayName="Subactivity" ma:default="NA" ma:hidden="true" ma:internalName="Subactivity" ma:readOnly="fals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 ma:displayName="Subject"/>
        <xsd:element ref="dc:description" minOccurs="0" maxOccurs="1"/>
        <xsd:element name="keywords" minOccurs="0" maxOccurs="1" type="xsd:string" ma:displayName="Key 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4400cd3368d4c79a8b4648e23d98427 xmlns="7a8ad139-030a-46d4-980b-b3117a0bafbe">
      <Terms xmlns="http://schemas.microsoft.com/office/infopath/2007/PartnerControls"/>
    </l4400cd3368d4c79a8b4648e23d98427>
    <Function xmlns="1500951b-8094-45ea-b225-01630ae14bd0">Projects</Function>
    <BusinessValue xmlns="1500951b-8094-45ea-b225-01630ae14bd0" xsi:nil="true"/>
    <MailPreviewData xmlns="1500951b-8094-45ea-b225-01630ae14bd0" xsi:nil="true"/>
    <PRADateDisposal xmlns="1500951b-8094-45ea-b225-01630ae14bd0" xsi:nil="true"/>
    <SetLabel xmlns="1500951b-8094-45ea-b225-01630ae14bd0">D10M</SetLabel>
    <Level2 xmlns="1500951b-8094-45ea-b225-01630ae14bd0" xsi:nil="true"/>
    <OverrideLabel xmlns="1500951b-8094-45ea-b225-01630ae14bd0" xsi:nil="true"/>
    <Project xmlns="1500951b-8094-45ea-b225-01630ae14bd0" xsi:nil="true"/>
    <TaxCatchAll xmlns="abef9ebf-1eaf-437c-a4d0-0ec6457202a5" xsi:nil="true"/>
    <CategoryName xmlns="1500951b-8094-45ea-b225-01630ae14bd0">Marketing &amp; Designs</CategoryName>
    <CategoryValue xmlns="1500951b-8094-45ea-b225-01630ae14bd0" xsi:nil="true"/>
    <PRADate3 xmlns="1500951b-8094-45ea-b225-01630ae14bd0" xsi:nil="true"/>
    <PRAText2 xmlns="1500951b-8094-45ea-b225-01630ae14bd0" xsi:nil="true"/>
    <PRAText5 xmlns="1500951b-8094-45ea-b225-01630ae14bd0" xsi:nil="true"/>
    <Year xmlns="1500951b-8094-45ea-b225-01630ae14bd0" xsi:nil="true"/>
    <SubsectionName xmlns="1500951b-8094-45ea-b225-01630ae14bd0" xsi:nil="true"/>
    <f6d64217b22345c5a5b166332951d5dc xmlns="7a8ad139-030a-46d4-980b-b3117a0bafbe">
      <Terms xmlns="http://schemas.microsoft.com/office/infopath/2007/PartnerControls"/>
    </f6d64217b22345c5a5b166332951d5dc>
    <HarmoineUIHidden xmlns="1500951b-8094-45ea-b225-01630ae14bd0" xsi:nil="true"/>
    <Subactivity xmlns="1500951b-8094-45ea-b225-01630ae14bd0">NA</Subactivity>
    <Narrative xmlns="1500951b-8094-45ea-b225-01630ae14bd0" xsi:nil="true"/>
    <PRADate2 xmlns="1500951b-8094-45ea-b225-01630ae14bd0" xsi:nil="true"/>
    <Sent xmlns="1500951b-8094-45ea-b225-01630ae14bd0" xsi:nil="true"/>
    <PRAText1 xmlns="1500951b-8094-45ea-b225-01630ae14bd0" xsi:nil="true"/>
    <PRAText4 xmlns="1500951b-8094-45ea-b225-01630ae14bd0" xsi:nil="true"/>
    <hd6c1f1a7946409a8c564dc6fb242ce3 xmlns="7a8ad139-030a-46d4-980b-b3117a0bafbe">
      <Terms xmlns="http://schemas.microsoft.com/office/infopath/2007/PartnerControls"/>
    </hd6c1f1a7946409a8c564dc6fb242ce3>
    <SectionName xmlns="1500951b-8094-45ea-b225-01630ae14bd0" xsi:nil="true"/>
    <RelatedPeople xmlns="1500951b-8094-45ea-b225-01630ae14bd0">
      <UserInfo>
        <DisplayName/>
        <AccountId xsi:nil="true"/>
        <AccountType/>
      </UserInfo>
    </RelatedPeople>
    <PRADate1 xmlns="1500951b-8094-45ea-b225-01630ae14bd0" xsi:nil="true"/>
    <PRADateTrigger xmlns="1500951b-8094-45ea-b225-01630ae14bd0" xsi:nil="true"/>
    <PRAType xmlns="1500951b-8094-45ea-b225-01630ae14bd0" xsi:nil="true"/>
    <To xmlns="1500951b-8094-45ea-b225-01630ae14bd0" xsi:nil="true"/>
    <m1c051e5f4a94ac69b3a1e2fc6d61a4f xmlns="7a8ad139-030a-46d4-980b-b3117a0bafbe">
      <Terms xmlns="http://schemas.microsoft.com/office/infopath/2007/PartnerControls"/>
    </m1c051e5f4a94ac69b3a1e2fc6d61a4f>
    <RetentionLabel xmlns="1500951b-8094-45ea-b225-01630ae14bd0" xsi:nil="true"/>
    <DocSubtype xmlns="1500951b-8094-45ea-b225-01630ae14bd0" xsi:nil="true"/>
    <OriginalSubject xmlns="1500951b-8094-45ea-b225-01630ae14bd0" xsi:nil="true"/>
    <Team xmlns="1500951b-8094-45ea-b225-01630ae14bd0">Australian Communications Theory Workshop</Team>
    <lcf76f155ced4ddcb4097134ff3c332f xmlns="7a8ad139-030a-46d4-980b-b3117a0bafbe">
      <Terms xmlns="http://schemas.microsoft.com/office/infopath/2007/PartnerControls"/>
    </lcf76f155ced4ddcb4097134ff3c332f>
    <hc732a941027433badf71821e2af7a5e xmlns="7a8ad139-030a-46d4-980b-b3117a0bafbe">
      <Terms xmlns="http://schemas.microsoft.com/office/infopath/2007/PartnerControls"/>
    </hc732a941027433badf71821e2af7a5e>
    <Channel xmlns="1500951b-8094-45ea-b225-01630ae14bd0">General</Channel>
    <Case xmlns="1500951b-8094-45ea-b225-01630ae14bd0">NA</Case>
    <FunctionGroup xmlns="1500951b-8094-45ea-b225-01630ae14bd0" xsi:nil="true"/>
    <Activity xmlns="1500951b-8094-45ea-b225-01630ae14bd0">Internal Projects</Activity>
    <AggregationStatus xmlns="1500951b-8094-45ea-b225-01630ae14bd0" xsi:nil="true"/>
    <Level3 xmlns="1500951b-8094-45ea-b225-01630ae14bd0" xsi:nil="true"/>
    <Received xmlns="1500951b-8094-45ea-b225-01630ae14bd0" xsi:nil="true"/>
    <SecurityClassification xmlns="1500951b-8094-45ea-b225-01630ae14bd0" xsi:nil="true"/>
    <jf10dadbfb4945bfba48eff7add1cef2 xmlns="7a8ad139-030a-46d4-980b-b3117a0bafbe">
      <Terms xmlns="http://schemas.microsoft.com/office/infopath/2007/PartnerControls"/>
    </jf10dadbfb4945bfba48eff7add1cef2>
    <AggregationNarrative xmlns="1500951b-8094-45ea-b225-01630ae14bd0" xsi:nil="true"/>
    <DocumentType xmlns="1500951b-8094-45ea-b225-01630ae14bd0" xsi:nil="true"/>
    <ILFrom xmlns="1500951b-8094-45ea-b225-01630ae14bd0" xsi:nil="true"/>
    <PRAText3 xmlns="1500951b-8094-45ea-b225-01630ae14bd0" xsi:nil="true"/>
    <Department xmlns="7a8ad139-030a-46d4-980b-b3117a0bafbe">Wireless Research Centre</Department>
    <Faculty xmlns="7a8ad139-030a-46d4-980b-b3117a0bafbe">Faculty of Engineering</Faculty>
  </documentManagement>
</p:properties>
</file>

<file path=customXml/itemProps1.xml><?xml version="1.0" encoding="utf-8"?>
<ds:datastoreItem xmlns:ds="http://schemas.openxmlformats.org/officeDocument/2006/customXml" ds:itemID="{0B01F159-A365-4A83-83B9-AFE3CE3C1669}"/>
</file>

<file path=customXml/itemProps2.xml><?xml version="1.0" encoding="utf-8"?>
<ds:datastoreItem xmlns:ds="http://schemas.openxmlformats.org/officeDocument/2006/customXml" ds:itemID="{8F335116-2B86-4EE5-9C48-5FC08D1C7051}"/>
</file>

<file path=customXml/itemProps3.xml><?xml version="1.0" encoding="utf-8"?>
<ds:datastoreItem xmlns:ds="http://schemas.openxmlformats.org/officeDocument/2006/customXml" ds:itemID="{8EEAC682-B2EB-4013-9BCD-71B04B6DA2C3}"/>
</file>

<file path=docMetadata/LabelInfo.xml><?xml version="1.0" encoding="utf-8"?>
<clbl:labelList xmlns:clbl="http://schemas.microsoft.com/office/2020/mipLabelMetadata">
  <clbl:label id="{d2b2326c-f811-4ccc-abcb-1b955c303c2e}" enabled="1" method="Standard" siteId="{dc781727-710e-4855-bc4c-690266a1b55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Custom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Aptos</vt:lpstr>
      <vt:lpstr>Helios Bold</vt:lpstr>
      <vt:lpstr>Knockout Cruiserweight Bold</vt:lpstr>
      <vt:lpstr>Helios</vt:lpstr>
      <vt:lpstr>Sunday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AusCTW (Presentation)</dc:title>
  <cp:lastModifiedBy>Mel Lloyd</cp:lastModifiedBy>
  <cp:revision>2</cp:revision>
  <dcterms:created xsi:type="dcterms:W3CDTF">2006-08-16T00:00:00Z</dcterms:created>
  <dcterms:modified xsi:type="dcterms:W3CDTF">2026-01-31T20:42:59Z</dcterms:modified>
  <dc:identifier>DAHAA6PN_2Y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In-Confidence</vt:lpwstr>
  </property>
  <property fmtid="{D5CDD505-2E9C-101B-9397-08002B2CF9AE}" pid="4" name="ContentTypeId">
    <vt:lpwstr>0x010100EB3043BC43940D4AB7BE748D85B0B7D5</vt:lpwstr>
  </property>
  <property fmtid="{D5CDD505-2E9C-101B-9397-08002B2CF9AE}" pid="5" name="NewsType">
    <vt:lpwstr/>
  </property>
  <property fmtid="{D5CDD505-2E9C-101B-9397-08002B2CF9AE}" pid="6" name="PageType">
    <vt:lpwstr/>
  </property>
  <property fmtid="{D5CDD505-2E9C-101B-9397-08002B2CF9AE}" pid="7" name="MediaServiceImageTags">
    <vt:lpwstr/>
  </property>
  <property fmtid="{D5CDD505-2E9C-101B-9397-08002B2CF9AE}" pid="8" name="Community">
    <vt:lpwstr/>
  </property>
  <property fmtid="{D5CDD505-2E9C-101B-9397-08002B2CF9AE}" pid="9" name="Topics">
    <vt:lpwstr/>
  </property>
  <property fmtid="{D5CDD505-2E9C-101B-9397-08002B2CF9AE}" pid="10" name="BusinessClassification">
    <vt:lpwstr/>
  </property>
  <property fmtid="{D5CDD505-2E9C-101B-9397-08002B2CF9AE}" pid="11" name="Section">
    <vt:lpwstr/>
  </property>
</Properties>
</file>